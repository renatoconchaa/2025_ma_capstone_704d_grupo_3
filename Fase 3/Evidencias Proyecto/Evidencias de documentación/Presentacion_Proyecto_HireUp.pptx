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Play"/>
      <p:regular r:id="rId35"/>
      <p:bold r:id="rId36"/>
    </p:embeddedFont>
    <p:embeddedFont>
      <p:font typeface="Overlock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gpboUVIpBa/h3UEfgA7HBNSBkV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70E506-A7CC-4EFD-8F0C-E0122517E22D}">
  <a:tblStyle styleId="{BC70E506-A7CC-4EFD-8F0C-E0122517E22D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4E8"/>
          </a:solidFill>
        </a:fill>
      </a:tcStyle>
    </a:wholeTbl>
    <a:band1H>
      <a:tcTxStyle b="off" i="off"/>
      <a:tcStyle>
        <a:fill>
          <a:solidFill>
            <a:srgbClr val="E0E9CE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0E9CE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EE3B5FD3-2AF0-4AC0-9FB2-591026309B47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 b="off" i="off"/>
      <a:tcStyle>
        <a:fill>
          <a:solidFill>
            <a:srgbClr val="CA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4EA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066B749F-A298-4B65-92AB-DC2896F9CDDB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lock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lay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Overlock-regular.fntdata"/><Relationship Id="rId14" Type="http://schemas.openxmlformats.org/officeDocument/2006/relationships/slide" Target="slides/slide9.xml"/><Relationship Id="rId36" Type="http://schemas.openxmlformats.org/officeDocument/2006/relationships/font" Target="fonts/Play-bold.fntdata"/><Relationship Id="rId17" Type="http://schemas.openxmlformats.org/officeDocument/2006/relationships/slide" Target="slides/slide12.xml"/><Relationship Id="rId39" Type="http://schemas.openxmlformats.org/officeDocument/2006/relationships/font" Target="fonts/Overlock-italic.fntdata"/><Relationship Id="rId16" Type="http://schemas.openxmlformats.org/officeDocument/2006/relationships/slide" Target="slides/slide11.xml"/><Relationship Id="rId38" Type="http://schemas.openxmlformats.org/officeDocument/2006/relationships/font" Target="fonts/Overlock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24.xml"/><Relationship Id="rId22" Type="http://schemas.openxmlformats.org/officeDocument/2006/relationships/slide" Target="/ppt/slides/slide26.xml"/><Relationship Id="rId21" Type="http://schemas.openxmlformats.org/officeDocument/2006/relationships/slide" Target="/ppt/slides/slide21.xml"/><Relationship Id="rId24" Type="http://schemas.openxmlformats.org/officeDocument/2006/relationships/slide" Target="/ppt/slides/slide28.xml"/><Relationship Id="rId23" Type="http://schemas.openxmlformats.org/officeDocument/2006/relationships/slide" Target="/ppt/slides/slide27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Relationship Id="rId9" Type="http://schemas.openxmlformats.org/officeDocument/2006/relationships/slide" Target="/ppt/slides/slide10.xml"/><Relationship Id="rId26" Type="http://schemas.openxmlformats.org/officeDocument/2006/relationships/image" Target="../media/image16.png"/><Relationship Id="rId25" Type="http://schemas.openxmlformats.org/officeDocument/2006/relationships/slide" Target="/ppt/slides/slide29.xml"/><Relationship Id="rId5" Type="http://schemas.openxmlformats.org/officeDocument/2006/relationships/slide" Target="/ppt/slides/slide5.xml"/><Relationship Id="rId6" Type="http://schemas.openxmlformats.org/officeDocument/2006/relationships/slide" Target="/ppt/slides/slide6.xml"/><Relationship Id="rId7" Type="http://schemas.openxmlformats.org/officeDocument/2006/relationships/slide" Target="/ppt/slides/slide7.xml"/><Relationship Id="rId8" Type="http://schemas.openxmlformats.org/officeDocument/2006/relationships/slide" Target="/ppt/slides/slide8.xml"/><Relationship Id="rId11" Type="http://schemas.openxmlformats.org/officeDocument/2006/relationships/slide" Target="/ppt/slides/slide12.xml"/><Relationship Id="rId10" Type="http://schemas.openxmlformats.org/officeDocument/2006/relationships/slide" Target="/ppt/slides/slide11.xml"/><Relationship Id="rId13" Type="http://schemas.openxmlformats.org/officeDocument/2006/relationships/slide" Target="/ppt/slides/slide16.xml"/><Relationship Id="rId12" Type="http://schemas.openxmlformats.org/officeDocument/2006/relationships/slide" Target="/ppt/slides/slide13.xml"/><Relationship Id="rId15" Type="http://schemas.openxmlformats.org/officeDocument/2006/relationships/slide" Target="/ppt/slides/slide18.xml"/><Relationship Id="rId14" Type="http://schemas.openxmlformats.org/officeDocument/2006/relationships/slide" Target="/ppt/slides/slide17.xml"/><Relationship Id="rId17" Type="http://schemas.openxmlformats.org/officeDocument/2006/relationships/slide" Target="/ppt/slides/slide21.xml"/><Relationship Id="rId16" Type="http://schemas.openxmlformats.org/officeDocument/2006/relationships/slide" Target="/ppt/slides/slide20.xml"/><Relationship Id="rId19" Type="http://schemas.openxmlformats.org/officeDocument/2006/relationships/slide" Target="/ppt/slides/slide23.xml"/><Relationship Id="rId18" Type="http://schemas.openxmlformats.org/officeDocument/2006/relationships/slide" Target="/ppt/slides/slide2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 rot="5400000">
            <a:off x="-2340425" y="2665914"/>
            <a:ext cx="5859888" cy="527733"/>
            <a:chOff x="6081624" y="1998368"/>
            <a:chExt cx="5613457" cy="782175"/>
          </a:xfrm>
        </p:grpSpPr>
        <p:sp>
          <p:nvSpPr>
            <p:cNvPr id="86" name="Google Shape;86;p1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579528" y="517897"/>
            <a:ext cx="11111700" cy="5858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>
            <p:ph type="ctrTitle"/>
          </p:nvPr>
        </p:nvSpPr>
        <p:spPr>
          <a:xfrm>
            <a:off x="1057025" y="922644"/>
            <a:ext cx="5040285" cy="11695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lay"/>
              <a:buNone/>
            </a:pPr>
            <a:r>
              <a:rPr lang="es-ES" sz="3100"/>
              <a:t>Proyecto HireUp – Plataforma de Reclutamiento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055715" y="2508105"/>
            <a:ext cx="5040285" cy="3632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Integrantes: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Matías Baeza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Renato Concha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Felipe Cortes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Profesor: Christian Lazcano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Sección: 704D</a:t>
            </a:r>
            <a:endParaRPr/>
          </a:p>
        </p:txBody>
      </p:sp>
      <p:pic>
        <p:nvPicPr>
          <p:cNvPr descr="A logo of a building&#10;&#10;AI-generated content may be incorrect."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0639" y="619345"/>
            <a:ext cx="2581173" cy="2581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yellow and blue letters on a black background&#10;&#10;AI-generated content may be incorrect."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6666" y="5163321"/>
            <a:ext cx="4389120" cy="1075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idx="1" type="body"/>
          </p:nvPr>
        </p:nvSpPr>
        <p:spPr>
          <a:xfrm>
            <a:off x="838200" y="1753425"/>
            <a:ext cx="10515600" cy="45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Presentación equipo de trabajo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Origen de la problemática y necesidad del proyecto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Descripción de la solución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Modelo Canvas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Objetivos del Proyecto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Alcances del Proyecto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Metodología del Proyecto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Arquitectura y modelo técnico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Flujo de datos y procesos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Modelamiento del Sistema (UML)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Modelo Entidad-Relacion (MER)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Proceso de Reclutamiento (BPMN)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Diseño de la interfaz y Experiencia de usuarios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Pruebas de validación y aseguramiento de calidad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Gestión e Implementación del proyecto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Stack tecnológico del sistema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Factibilidad operacional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Cumplimiento normativo y protección de datos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Gestión e Implementación del proyecto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Roadmap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Gestión y control del Proyecto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Roles y responsabilidades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"/>
              <a:buAutoNum type="arabicPeriod"/>
            </a:pPr>
            <a:r>
              <a:rPr lang="es-ES" sz="1400" u="sng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  <a:hlinkClick action="ppaction://hlinksldjump"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Retrospectiva del Proyecto</a:t>
            </a:r>
            <a:endParaRPr sz="14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A yellow and blue letters on a black background&#10;&#10;AI-generated content may be incorrect." id="99" name="Google Shape;99;p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946666" y="5163321"/>
            <a:ext cx="4389119" cy="10753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2"/>
          <p:cNvGrpSpPr/>
          <p:nvPr/>
        </p:nvGrpSpPr>
        <p:grpSpPr>
          <a:xfrm rot="5400000">
            <a:off x="-2355618" y="2926347"/>
            <a:ext cx="5859921" cy="527733"/>
            <a:chOff x="6081592" y="1998368"/>
            <a:chExt cx="5613489" cy="782175"/>
          </a:xfrm>
        </p:grpSpPr>
        <p:sp>
          <p:nvSpPr>
            <p:cNvPr id="101" name="Google Shape;101;p2"/>
            <p:cNvSpPr/>
            <p:nvPr/>
          </p:nvSpPr>
          <p:spPr>
            <a:xfrm rot="5400000">
              <a:off x="11227981" y="2313068"/>
              <a:ext cx="781800" cy="15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 rot="10800000">
              <a:off x="6081592" y="1998743"/>
              <a:ext cx="5373000" cy="78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566250" y="610800"/>
            <a:ext cx="8550900" cy="933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>
            <p:ph type="title"/>
          </p:nvPr>
        </p:nvSpPr>
        <p:spPr>
          <a:xfrm>
            <a:off x="782450" y="354625"/>
            <a:ext cx="10777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Agenda – Ítems de presentación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3"/>
          <p:cNvGrpSpPr/>
          <p:nvPr/>
        </p:nvGrpSpPr>
        <p:grpSpPr>
          <a:xfrm rot="5400000">
            <a:off x="-2510317" y="2934047"/>
            <a:ext cx="5859921" cy="527733"/>
            <a:chOff x="6081592" y="1998368"/>
            <a:chExt cx="5613489" cy="782175"/>
          </a:xfrm>
        </p:grpSpPr>
        <p:sp>
          <p:nvSpPr>
            <p:cNvPr id="110" name="Google Shape;110;p3"/>
            <p:cNvSpPr/>
            <p:nvPr/>
          </p:nvSpPr>
          <p:spPr>
            <a:xfrm rot="5400000">
              <a:off x="11227981" y="2313068"/>
              <a:ext cx="781800" cy="15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 rot="10800000">
              <a:off x="6081592" y="1998743"/>
              <a:ext cx="5373000" cy="78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>
            <a:off x="540153" y="633247"/>
            <a:ext cx="11111700" cy="5858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Presentación equipo de trabajo</a:t>
            </a:r>
            <a:endParaRPr/>
          </a:p>
        </p:txBody>
      </p:sp>
      <p:pic>
        <p:nvPicPr>
          <p:cNvPr id="114" name="Google Shape;114;p3" title="Diseño sin título.png"/>
          <p:cNvPicPr preferRelativeResize="0"/>
          <p:nvPr/>
        </p:nvPicPr>
        <p:blipFill rotWithShape="1">
          <a:blip r:embed="rId3">
            <a:alphaModFix/>
          </a:blip>
          <a:srcRect b="47794" l="38853" r="40816" t="7903"/>
          <a:stretch/>
        </p:blipFill>
        <p:spPr>
          <a:xfrm>
            <a:off x="3001024" y="2918525"/>
            <a:ext cx="1278802" cy="156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 title="Diseño sin título (1).png"/>
          <p:cNvPicPr preferRelativeResize="0"/>
          <p:nvPr/>
        </p:nvPicPr>
        <p:blipFill rotWithShape="1">
          <a:blip r:embed="rId4">
            <a:alphaModFix/>
          </a:blip>
          <a:srcRect b="17442" l="38147" r="38082" t="17442"/>
          <a:stretch/>
        </p:blipFill>
        <p:spPr>
          <a:xfrm>
            <a:off x="5587363" y="2918525"/>
            <a:ext cx="1017283" cy="156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title="Diseño sin título (2).png"/>
          <p:cNvPicPr preferRelativeResize="0"/>
          <p:nvPr/>
        </p:nvPicPr>
        <p:blipFill rotWithShape="1">
          <a:blip r:embed="rId5">
            <a:alphaModFix/>
          </a:blip>
          <a:srcRect b="20453" l="37303" r="37067" t="18493"/>
          <a:stretch/>
        </p:blipFill>
        <p:spPr>
          <a:xfrm>
            <a:off x="7912200" y="2918525"/>
            <a:ext cx="1169875" cy="156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2902125" y="4609825"/>
            <a:ext cx="1476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Renato Concha - Desarrollador/DBA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055750" y="4609825"/>
            <a:ext cx="21249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Matias Baeza - Jefe de Proyecto/Coordinador de desarrollo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857700" y="4609825"/>
            <a:ext cx="12789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Felipe Cortés - Desarrollador/QA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yellow and blue letters on a black background&#10;&#10;AI-generated content may be incorrect."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291" y="5328321"/>
            <a:ext cx="4389120" cy="1075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s-ES" sz="4800"/>
              <a:t>Origen de la problemática y necesidad del proyecto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 rot="10800000">
            <a:off x="44051" y="1681458"/>
            <a:ext cx="11454595" cy="3169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4051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 rot="5400000">
            <a:off x="11183987" y="1996116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793662" y="2053394"/>
            <a:ext cx="3105912" cy="2499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Contexto del negocio: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Ascensores Maximiliano Baeza E.I.R.L. es una pyme en crecimiento dedicada a instalación y mantenimiento de ascensores.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Debido al aumento reciente de proyectos tiene una mayor demanda de personal técnico y administrativo.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4513794" y="2052246"/>
            <a:ext cx="3105912" cy="34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>
                <a:latin typeface="Overlock"/>
                <a:ea typeface="Overlock"/>
                <a:cs typeface="Overlock"/>
                <a:sym typeface="Overlock"/>
              </a:rPr>
              <a:t>Problemática actual: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ES" sz="1600"/>
              <a:t>Reclutamiento manual, disperso y poco eficiente.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ES" sz="1600"/>
              <a:t>Las plataformas externas como Laborum o Computrabajo implican un costo considerable y no se encuentran adaptadas para pymes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ES" sz="1600"/>
              <a:t>Falta de un sistema interno para gestionar postulaciones y entrevistas.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8233926" y="2052246"/>
            <a:ext cx="3105912" cy="34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Solución propuesta: HireUp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Portal interno de reclutamiento.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 publicación de ofertas, postulaciones y agendamiento de entrevistas.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 la eficiencia y trazabilidad del proceso de selección.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433416" y="5222004"/>
            <a:ext cx="4550064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Métrica del mercado: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datos de la ASECH (2024), el 64% de las pymes chilenas tiene dificultades para reclutador personal técnico especializado.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4974732" y="5291567"/>
            <a:ext cx="3191406" cy="9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costo promedio de publicaciones en portales como Laborum y Computrabajo supera los $50.000 por aviso.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8188734" y="5259594"/>
            <a:ext cx="3105912" cy="9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72% de las pymes no cuenta con un sistema interno de reclutamiento digital (Corfo, 2023).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9036542" y="230886"/>
            <a:ext cx="3033537" cy="2846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"/>
              <a:buNone/>
            </a:pPr>
            <a:r>
              <a:rPr lang="es-ES" sz="3700"/>
              <a:t>Descripción de la solución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 rot="-54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777294" y="868824"/>
            <a:ext cx="7132214" cy="1533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/>
              <a:t>HireUp es un portal interno de reclutamiento diseñado para Ascensores Maximiliano Baeza E.I.R.L, que centraliza y automatiza los procesos de búsqueda, selección y gestión de personal.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777293" y="1860804"/>
            <a:ext cx="7282583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diferencia de plataformas externas, HireUp está ajustado a las necesidades reales de la empresa, con un enfoque 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Optimizar el flujo de contratación.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Reducir costos asociados a portales externos.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Mejorar la trazabilidad y control de las postulaciones.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Garantizar seguridad y privacidad de los datos de candidatos y reclutadores.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777293" y="3983130"/>
            <a:ext cx="7282583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estimado de HireUp: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Reducción del tiempo de reclutamiento: 30% (estimado por eliminación de pasos manuales).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Ahorro anual en portales externos: $600.000 – $1.200.000.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Aumento de postulaciones calificadas: +40% (al ordenar requisitos, experiencia mínima y filtros).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en trazabilidad del proceso: 100% centralizado.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9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4800"/>
              <a:t>Modelo Canvas</a:t>
            </a:r>
            <a:endParaRPr sz="4800"/>
          </a:p>
        </p:txBody>
      </p:sp>
      <p:sp>
        <p:nvSpPr>
          <p:cNvPr id="154" name="Google Shape;154;p39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9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9"/>
          <p:cNvSpPr txBox="1"/>
          <p:nvPr>
            <p:ph idx="1" type="body"/>
          </p:nvPr>
        </p:nvSpPr>
        <p:spPr>
          <a:xfrm>
            <a:off x="793661" y="2599509"/>
            <a:ext cx="2993847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2000"/>
              <a:t>Modelo Canvas del proyecto HireUp</a:t>
            </a:r>
            <a:endParaRPr/>
          </a:p>
        </p:txBody>
      </p:sp>
      <p:pic>
        <p:nvPicPr>
          <p:cNvPr descr="A screenshot of a white board&#10;&#10;AI-generated content may be incorrect." id="157" name="Google Shape;15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1229" y="2236340"/>
            <a:ext cx="7528412" cy="423473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9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>
            <p:ph type="title"/>
          </p:nvPr>
        </p:nvSpPr>
        <p:spPr>
          <a:xfrm>
            <a:off x="838200" y="129687"/>
            <a:ext cx="89121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Objetivos del Proyecto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 flipH="1" rot="-5400000">
            <a:off x="555710" y="2183223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>
            <p:ph idx="1" type="body"/>
          </p:nvPr>
        </p:nvSpPr>
        <p:spPr>
          <a:xfrm>
            <a:off x="828161" y="1455250"/>
            <a:ext cx="10515600" cy="108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2400"/>
              <a:t>Objetivo general: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1700"/>
              <a:t>Desarrollar un portal interno de reclutamiento para </a:t>
            </a:r>
            <a:r>
              <a:rPr i="1" lang="es-ES" sz="1700"/>
              <a:t>Ascensores Maximiliano Baeza E.I.R.L.</a:t>
            </a:r>
            <a:r>
              <a:rPr lang="es-ES" sz="1700"/>
              <a:t> que optimice la gestión de ofertas laborales, postulaciones y selección de personal, fortaleciendo la eficiencia del proceso de contratación.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</p:txBody>
      </p:sp>
      <p:sp>
        <p:nvSpPr>
          <p:cNvPr id="168" name="Google Shape;168;p6"/>
          <p:cNvSpPr txBox="1"/>
          <p:nvPr/>
        </p:nvSpPr>
        <p:spPr>
          <a:xfrm>
            <a:off x="1469136" y="2679266"/>
            <a:ext cx="4922520" cy="3270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un sistema de usuarios por roles (candidato, reclutador, administrador).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Permitir la publicación y gestión de ofertas laborales por área y obra.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Facilitar el registro y postulación de candidatos con carga de CV.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Incorporar filtros y búsquedas avanzadas por ubicación, experiencia y área.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de módulo de entrevistas con envío automático de correos.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Incluir un panel administrativo con reportes y métricas clave.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6391656" y="2679265"/>
            <a:ext cx="5068824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Alcance general del proyecto: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contempla la gestión completa del proceso de reclutamiento, desde la publicación de ofertas hasta la entrevista final, excluyendo integraciones externas y aplicaciones móviles.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f a building&#10;&#10;AI-generated content may be incorrect."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5382" y="5355163"/>
            <a:ext cx="1476758" cy="1476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0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0"/>
          <p:cNvSpPr txBox="1"/>
          <p:nvPr>
            <p:ph type="title"/>
          </p:nvPr>
        </p:nvSpPr>
        <p:spPr>
          <a:xfrm>
            <a:off x="838200" y="129687"/>
            <a:ext cx="89121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Alcances del Proyecto</a:t>
            </a:r>
            <a:endParaRPr/>
          </a:p>
        </p:txBody>
      </p:sp>
      <p:sp>
        <p:nvSpPr>
          <p:cNvPr id="178" name="Google Shape;178;p40"/>
          <p:cNvSpPr/>
          <p:nvPr/>
        </p:nvSpPr>
        <p:spPr>
          <a:xfrm flipH="1" rot="-5400000">
            <a:off x="555710" y="2183223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0"/>
          <p:cNvSpPr txBox="1"/>
          <p:nvPr/>
        </p:nvSpPr>
        <p:spPr>
          <a:xfrm>
            <a:off x="1106468" y="1465748"/>
            <a:ext cx="4922520" cy="4424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 de Sistema: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funcionalidades incluye la plataforma?: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usuarios con tres perfiles: Administrador, Reclutador y Candidato.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Registro, Login y autenticación por roles.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Publicación de ofertas laborales asociadas a obras y ubicaciones normalizadas (Región–Ciudad–Comuna).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Panel de candidatos con postulación a ofertas, visualización de estado y descarga/subida de CV.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Panel de reclutadores con creación, edición, eliminación y gestión de ofertas.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de postulaciones por oferta y acceso al perfil del candidato.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entrevistas con agendamiento y envío de notificaciones al candidato.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Lógica automática para actualizar el estado de las postulaciones.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filtros avanzados: búsqueda por título, obra, ubicación, área, experiencia mínima y estado.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almacenamiento de CV en la nube mediante Supabase Storage.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métricas internas (ofertas por usuario, conteo de postulaciones,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f a building&#10;&#10;AI-generated content may be incorrect." id="180" name="Google Shape;1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5660135"/>
            <a:ext cx="1246500" cy="117178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0"/>
          <p:cNvSpPr txBox="1"/>
          <p:nvPr/>
        </p:nvSpPr>
        <p:spPr>
          <a:xfrm>
            <a:off x="6665976" y="1455250"/>
            <a:ext cx="5416164" cy="4462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entrega concreta ofrece HireUp como solución tecnológica?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plataforma web funcional y responsiva accesible desde cualquier dispositivo.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Portal de reclutamiento completo para pequeñas y medianas empresas del rubro de ascensores.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y autenticación por correo electrónico.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intuitiva con dashboards diferenciados por tipo de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simple de ofertas laborales y postulaciones sin recurrir a portales externos.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Proceso de postulación en un solo click con CV almacenado en la nube.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básico de comunicación de entrevistas por correo.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Panel de administración con descarga de reportes (Excel, PDF).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Experiencia de usuario guiada, moderna y alineada a la identidad visual de HireUp.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1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1"/>
          <p:cNvSpPr txBox="1"/>
          <p:nvPr>
            <p:ph type="title"/>
          </p:nvPr>
        </p:nvSpPr>
        <p:spPr>
          <a:xfrm>
            <a:off x="838200" y="129687"/>
            <a:ext cx="89121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Alcances del Proyecto</a:t>
            </a:r>
            <a:endParaRPr/>
          </a:p>
        </p:txBody>
      </p:sp>
      <p:sp>
        <p:nvSpPr>
          <p:cNvPr id="189" name="Google Shape;189;p41"/>
          <p:cNvSpPr/>
          <p:nvPr/>
        </p:nvSpPr>
        <p:spPr>
          <a:xfrm flipH="1" rot="-5400000">
            <a:off x="555710" y="2183223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1"/>
          <p:cNvSpPr txBox="1"/>
          <p:nvPr/>
        </p:nvSpPr>
        <p:spPr>
          <a:xfrm>
            <a:off x="1106468" y="1180929"/>
            <a:ext cx="4922520" cy="467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 de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sí se hará y qué no se hará en esta versión del proyecto?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Incluye: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de arquitectura MVC y normalización de la base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completa de backend en Django + PostgreSQL (Supabase).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vistas, formularios y flujos principales para candidatos y reclutadores.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gestión de obras y normalización territorial (Región–Ciudad–Comuna).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de filtros dinámicos y paginación.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entrevistas y mensajería por correo.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Panel de administración con métricas básicas.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 en Render con base de datos en Supabase.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incluye: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 móvil nativa (Android/iOS).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artificial para recomendaciones.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Integraciones con redes externas (LinkedIn, Laborum,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avanzado de CV.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Canal de chat interno entre reclutador y candidato.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81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s-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Monetización o planes de suscripción.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f a building&#10;&#10;AI-generated content may be incorrect." id="191" name="Google Shape;19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0" y="5660135"/>
            <a:ext cx="1246500" cy="117178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1"/>
          <p:cNvSpPr txBox="1"/>
          <p:nvPr/>
        </p:nvSpPr>
        <p:spPr>
          <a:xfrm>
            <a:off x="6656832" y="1200571"/>
            <a:ext cx="5068824" cy="4893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 Operacional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procesos de negocio cubre la plataforma y cuáles no?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Incluye: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Flujos operativos de reclutamiento internos (publicación → postulación → entrevista → resultado).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interna de candidatos captados fuera de los portales tradicionales.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Reducción de tiempos de búsqueda mediante filtros y almacenamiento centralizado de CV.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Asegurar disponibilidad online del sistema 24/7 mediante Render y Supabase.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 básica: autenticación, validaciones, control de roles y protección de archivos.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incluye: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Atención de soporte dentro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con ERP, CRM o sistemas internos de la empresa.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Evaluaciones psicométricas o pruebas técnicas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>
            <p:ph type="title"/>
          </p:nvPr>
        </p:nvSpPr>
        <p:spPr>
          <a:xfrm>
            <a:off x="365760" y="472168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</a:pPr>
            <a:r>
              <a:rPr lang="es-ES" sz="5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Metodología del Proyecto</a:t>
            </a:r>
            <a:endParaRPr/>
          </a:p>
        </p:txBody>
      </p:sp>
      <p:grpSp>
        <p:nvGrpSpPr>
          <p:cNvPr id="199" name="Google Shape;199;p7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200" name="Google Shape;200;p7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7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668332" y="391886"/>
            <a:ext cx="7026844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>
            <p:ph idx="1" type="body"/>
          </p:nvPr>
        </p:nvSpPr>
        <p:spPr>
          <a:xfrm>
            <a:off x="803499" y="2928964"/>
            <a:ext cx="40353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ES" sz="1400"/>
              <a:t>El desarrollo de </a:t>
            </a:r>
            <a:r>
              <a:rPr i="1" lang="es-ES" sz="1400"/>
              <a:t>HireUp</a:t>
            </a:r>
            <a:r>
              <a:rPr lang="es-ES" sz="1400"/>
              <a:t> se realizó bajo una metodología ágil tipo SCRUM, priorizando la iteración continúa, la validación con el cliente (</a:t>
            </a:r>
            <a:r>
              <a:rPr i="1" lang="es-ES" sz="1400"/>
              <a:t>Ascensores Maximiliano Baeza E.I.R.L.</a:t>
            </a:r>
            <a:r>
              <a:rPr lang="es-ES" sz="1400"/>
              <a:t>) y la entrega funcional en etapas cortas.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803498" y="4158375"/>
            <a:ext cx="3792856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Asignación de roles: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Matías Baeza – Jefe de Proyecto y coordinador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Renato Concha – Desarrollador y DBA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Felipe Cortes – Desarrollador y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7" name="Google Shape;207;p7"/>
          <p:cNvGraphicFramePr/>
          <p:nvPr/>
        </p:nvGraphicFramePr>
        <p:xfrm>
          <a:off x="5020474" y="1057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{BC70E506-A7CC-4EFD-8F0C-E0122517E22D}</a:tableStyleId>
              </a:tblPr>
              <a:tblGrid>
                <a:gridCol w="2107525"/>
                <a:gridCol w="2107525"/>
                <a:gridCol w="2107525"/>
              </a:tblGrid>
              <a:tr h="38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>
                          <a:solidFill>
                            <a:schemeClr val="dk1"/>
                          </a:solidFill>
                        </a:rPr>
                        <a:t>Etapa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>
                          <a:solidFill>
                            <a:schemeClr val="dk1"/>
                          </a:solidFill>
                        </a:rPr>
                        <a:t>Descripción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>
                          <a:solidFill>
                            <a:schemeClr val="dk1"/>
                          </a:solidFill>
                        </a:rPr>
                        <a:t>Fecha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61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1. Análisis y levantamiento de requisitos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Reuniones con el cliente, identificación de necesidades y definición del alcance del sistema.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Agosto 2025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72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2. Diseño del sistema y base de datos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Creación de diagramas UML, modelo entidad-relación y arquitectura del sistema.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Agosto 2025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72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3. Desarrollo del modulo de usuarios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Implementación de registro, login y control de roles.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Septiembre 2025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72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4. Modulo de ofertas laborales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Creación, filtrado y gestión de ofertas y postulaciones.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Octubre 2025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72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5. Integración con Supabase y Correos Automáticos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Migración a PostgreSQL y configuración de notificaciones vía email.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Octubre 2025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831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6. Módulo de Entrevistas y Panel Administrativo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Gestión de entrevistas, métricas y reportes.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Noviembre 2025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72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7. Pruebas y Despliegue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Ajustes, pruebas funcionales y preparación para despliegue.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Noviembre 2025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>
            <p:ph type="title"/>
          </p:nvPr>
        </p:nvSpPr>
        <p:spPr>
          <a:xfrm>
            <a:off x="793662" y="386930"/>
            <a:ext cx="10066122" cy="6978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lay"/>
              <a:buNone/>
            </a:pPr>
            <a:r>
              <a:rPr lang="es-ES" sz="4800"/>
              <a:t>Arquitectura y modelo técnico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 rot="10800000">
            <a:off x="164294" y="1139947"/>
            <a:ext cx="11454595" cy="472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>
            <p:ph idx="1" type="body"/>
          </p:nvPr>
        </p:nvSpPr>
        <p:spPr>
          <a:xfrm>
            <a:off x="164294" y="1748761"/>
            <a:ext cx="2789219" cy="4267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800"/>
              <a:t>El sistema HireUp se construye bajo una arquitectura de cuatro capas: capa de presentación, capa lógica y capa de acceso a datos y capa de persistencia.</a:t>
            </a:r>
            <a:br>
              <a:rPr lang="es-ES" sz="1800"/>
            </a:br>
            <a:r>
              <a:rPr lang="es-ES" sz="1800"/>
              <a:t>Este enfoque permite mantener la separación de responsabilidades, mejorar la mantenibilidad y facilitar futuras integraciones.</a:t>
            </a:r>
            <a:endParaRPr sz="2400"/>
          </a:p>
        </p:txBody>
      </p:sp>
      <p:sp>
        <p:nvSpPr>
          <p:cNvPr id="217" name="Google Shape;217;p8"/>
          <p:cNvSpPr/>
          <p:nvPr/>
        </p:nvSpPr>
        <p:spPr>
          <a:xfrm rot="5400000">
            <a:off x="11228039" y="1454605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pyramid&#10;&#10;AI-generated content may be incorrect.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750" y="1612072"/>
            <a:ext cx="8317948" cy="4858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s-ES" sz="4800"/>
              <a:t>Flujo de datos y procesos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>
            <p:ph idx="1" type="body"/>
          </p:nvPr>
        </p:nvSpPr>
        <p:spPr>
          <a:xfrm>
            <a:off x="793661" y="2599509"/>
            <a:ext cx="4530900" cy="3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Como ejemplo, en el proceso de postulación, el candidato interactúa con el portal web para enviar su postulación.</a:t>
            </a:r>
            <a:br>
              <a:rPr lang="es-ES" sz="2000"/>
            </a:br>
            <a:r>
              <a:rPr lang="es-ES" sz="2000"/>
              <a:t>Esta información pasa por la capa del Backend donde se aplican las validaciones, y finalmente se almacena en la base de datos.</a:t>
            </a:r>
            <a:br>
              <a:rPr lang="es-ES" sz="2000"/>
            </a:br>
            <a:r>
              <a:rPr lang="es-ES" sz="2000"/>
              <a:t>El reclutador, por su parte, puede visualizar y gestionar esta información desde su propio panel.</a:t>
            </a:r>
            <a:endParaRPr/>
          </a:p>
        </p:txBody>
      </p:sp>
      <p:pic>
        <p:nvPicPr>
          <p:cNvPr descr="A diagram of a web&#10;&#10;AI-generated content may be incorrect." id="228" name="Google Shape;2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0637" y="3082587"/>
            <a:ext cx="5606646" cy="250897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5515355" y="2511626"/>
            <a:ext cx="11612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>
            <p:ph type="title"/>
          </p:nvPr>
        </p:nvSpPr>
        <p:spPr>
          <a:xfrm>
            <a:off x="731521" y="444979"/>
            <a:ext cx="436139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</a:pPr>
            <a:r>
              <a:rPr lang="es-ES" sz="5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Modelamiento del Sistema (UML)</a:t>
            </a:r>
            <a:endParaRPr/>
          </a:p>
        </p:txBody>
      </p:sp>
      <p:sp>
        <p:nvSpPr>
          <p:cNvPr id="237" name="Google Shape;237;p10"/>
          <p:cNvSpPr txBox="1"/>
          <p:nvPr>
            <p:ph idx="1" type="body"/>
          </p:nvPr>
        </p:nvSpPr>
        <p:spPr>
          <a:xfrm>
            <a:off x="1190499" y="2940728"/>
            <a:ext cx="4036333" cy="2499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 de Casos de Uso: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/>
              <a:t>Permite identificar las principales funcionalidades del sistema y los actores involucrados.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10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239" name="Google Shape;239;p1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10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company&#10;&#10;AI-generated content may be incorrect." id="244" name="Google Shape;2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590" y="666728"/>
            <a:ext cx="5383804" cy="5465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 txBox="1"/>
          <p:nvPr>
            <p:ph type="title"/>
          </p:nvPr>
        </p:nvSpPr>
        <p:spPr>
          <a:xfrm>
            <a:off x="1056582" y="444979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</a:pPr>
            <a:r>
              <a:rPr lang="es-ES" sz="5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Modelamiento del Sistema (UML)</a:t>
            </a:r>
            <a:endParaRPr/>
          </a:p>
        </p:txBody>
      </p:sp>
      <p:sp>
        <p:nvSpPr>
          <p:cNvPr id="251" name="Google Shape;251;p11"/>
          <p:cNvSpPr txBox="1"/>
          <p:nvPr>
            <p:ph idx="1" type="body"/>
          </p:nvPr>
        </p:nvSpPr>
        <p:spPr>
          <a:xfrm>
            <a:off x="1190499" y="2940728"/>
            <a:ext cx="4036333" cy="2499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 de </a:t>
            </a:r>
            <a:r>
              <a:rPr b="1" lang="es-ES" sz="2000"/>
              <a:t>Actividad</a:t>
            </a:r>
            <a:r>
              <a:rPr b="1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/>
              <a:t>Representa el flujo de las principales operaciones dentro del sistema, como la gestión de postulaciones y entrevistas.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11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253" name="Google Shape;253;p11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11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company&#10;&#10;AI-generated content may be incorrect." id="258" name="Google Shape;2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0237" y="121915"/>
            <a:ext cx="6200511" cy="6613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>
            <p:ph type="title"/>
          </p:nvPr>
        </p:nvSpPr>
        <p:spPr>
          <a:xfrm>
            <a:off x="1056582" y="444979"/>
            <a:ext cx="403633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</a:pPr>
            <a:r>
              <a:rPr lang="es-ES" sz="5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Modelamiento del Sistema (UML)</a:t>
            </a:r>
            <a:endParaRPr/>
          </a:p>
        </p:txBody>
      </p:sp>
      <p:sp>
        <p:nvSpPr>
          <p:cNvPr id="265" name="Google Shape;265;p12"/>
          <p:cNvSpPr txBox="1"/>
          <p:nvPr>
            <p:ph idx="1" type="body"/>
          </p:nvPr>
        </p:nvSpPr>
        <p:spPr>
          <a:xfrm>
            <a:off x="1190499" y="2940728"/>
            <a:ext cx="4036333" cy="2499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E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Diagrama de Clases: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/>
              <a:t>Define la estructura de los datos y las relaciones entre entidades, base para la implementación del modelo relacional.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12"/>
          <p:cNvGrpSpPr/>
          <p:nvPr/>
        </p:nvGrpSpPr>
        <p:grpSpPr>
          <a:xfrm>
            <a:off x="0" y="2984992"/>
            <a:ext cx="731521" cy="673460"/>
            <a:chOff x="3940602" y="308034"/>
            <a:chExt cx="2116791" cy="3428999"/>
          </a:xfrm>
        </p:grpSpPr>
        <p:sp>
          <p:nvSpPr>
            <p:cNvPr id="267" name="Google Shape;267;p12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12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company&#10;&#10;AI-generated content may be incorrect." id="272" name="Google Shape;2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3415" y="432758"/>
            <a:ext cx="5064770" cy="5947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0" y="9968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1E1E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ES" sz="4000">
                <a:latin typeface="Play"/>
                <a:ea typeface="Play"/>
                <a:cs typeface="Play"/>
                <a:sym typeface="Play"/>
              </a:rPr>
              <a:t>Modelo Entidad-Relacion (</a:t>
            </a:r>
            <a:r>
              <a:rPr lang="es-ES" sz="4000"/>
              <a:t>MER</a:t>
            </a:r>
            <a:r>
              <a:rPr lang="es-ES" sz="4000">
                <a:latin typeface="Play"/>
                <a:ea typeface="Play"/>
                <a:cs typeface="Play"/>
                <a:sym typeface="Play"/>
              </a:rPr>
              <a:t>)</a:t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computer program&#10;&#10;AI-generated content may be incorrect." id="282" name="Google Shape;282;p13"/>
          <p:cNvPicPr preferRelativeResize="0"/>
          <p:nvPr/>
        </p:nvPicPr>
        <p:blipFill rotWithShape="1">
          <a:blip r:embed="rId3">
            <a:alphaModFix/>
          </a:blip>
          <a:srcRect b="0" l="0" r="4827" t="0"/>
          <a:stretch/>
        </p:blipFill>
        <p:spPr>
          <a:xfrm>
            <a:off x="131342" y="2127986"/>
            <a:ext cx="7148769" cy="439425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3"/>
          <p:cNvSpPr txBox="1"/>
          <p:nvPr>
            <p:ph idx="1" type="body"/>
          </p:nvPr>
        </p:nvSpPr>
        <p:spPr>
          <a:xfrm>
            <a:off x="7411453" y="2478024"/>
            <a:ext cx="3872243" cy="369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ES" sz="1800"/>
              <a:t>MER</a:t>
            </a:r>
            <a:r>
              <a:rPr b="1" lang="es-ES" sz="1800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/>
              <a:t>El modelo refleja la estructura lógica de los datos.</a:t>
            </a:r>
            <a:br>
              <a:rPr lang="es-ES" sz="1800"/>
            </a:br>
            <a:r>
              <a:rPr lang="es-ES" sz="1800"/>
              <a:t>Incluye entidades principales como Usuario, Candidato, Reclutador, OfertaLaboral, Postulación y Entrevista, todas vinculadas de forma coherente según el flujo del sistema.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 txBox="1"/>
          <p:nvPr>
            <p:ph type="title"/>
          </p:nvPr>
        </p:nvSpPr>
        <p:spPr>
          <a:xfrm>
            <a:off x="630936" y="502920"/>
            <a:ext cx="34198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lang="es-ES" sz="3000"/>
              <a:t>Proceso de Reclutamiento (BPMN)</a:t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 rot="5400000">
            <a:off x="3566159" y="1225296"/>
            <a:ext cx="1554480" cy="18288"/>
          </a:xfrm>
          <a:custGeom>
            <a:rect b="b" l="l" r="r" t="t"/>
            <a:pathLst>
              <a:path extrusionOk="0" fill="none" h="18288" w="155448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extrusionOk="0" h="18288" w="155448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 cap="rnd" cmpd="sng" w="412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 txBox="1"/>
          <p:nvPr>
            <p:ph idx="1" type="body"/>
          </p:nvPr>
        </p:nvSpPr>
        <p:spPr>
          <a:xfrm>
            <a:off x="4654295" y="502920"/>
            <a:ext cx="68945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s-ES" sz="1900"/>
              <a:t>Se modelaron las principales etapas del proceso de selección: publicación de oferta, postulación, entrevista y decisión final.</a:t>
            </a:r>
            <a:br>
              <a:rPr lang="es-ES" sz="1900"/>
            </a:br>
            <a:r>
              <a:rPr lang="es-ES" sz="1900"/>
              <a:t>Este diagrama permite visualizar las responsabilidades entre candidatos y reclutadores.</a:t>
            </a:r>
            <a:endParaRPr/>
          </a:p>
        </p:txBody>
      </p:sp>
      <p:pic>
        <p:nvPicPr>
          <p:cNvPr descr="A diagram of a diagram&#10;&#10;AI-generated content may be incorrect." id="292" name="Google Shape;2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9601" y="2290936"/>
            <a:ext cx="9540605" cy="3959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15"/>
          <p:cNvGrpSpPr/>
          <p:nvPr/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</p:grpSpPr>
        <p:sp>
          <p:nvSpPr>
            <p:cNvPr id="299" name="Google Shape;299;p15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p15"/>
          <p:cNvSpPr/>
          <p:nvPr/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 txBox="1"/>
          <p:nvPr>
            <p:ph type="title"/>
          </p:nvPr>
        </p:nvSpPr>
        <p:spPr>
          <a:xfrm>
            <a:off x="1004463" y="994832"/>
            <a:ext cx="5040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lay"/>
              <a:buNone/>
            </a:pPr>
            <a:r>
              <a:rPr lang="es-ES" sz="3700"/>
              <a:t>Diseño de la interfaz y Experiencia de usuarios</a:t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 txBox="1"/>
          <p:nvPr>
            <p:ph idx="1" type="body"/>
          </p:nvPr>
        </p:nvSpPr>
        <p:spPr>
          <a:xfrm>
            <a:off x="1066028" y="2518418"/>
            <a:ext cx="5040300" cy="36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2000"/>
              <a:t>El diseño sigue la identidad visual de HireUp, priorizando la usabilidad, claridad en los flujos y una experiencia consistente entre los perfiles de usuario.</a:t>
            </a:r>
            <a:endParaRPr/>
          </a:p>
        </p:txBody>
      </p:sp>
      <p:pic>
        <p:nvPicPr>
          <p:cNvPr descr="A screenshot of a computer screen&#10;&#10;AI-generated content may be incorrect." id="305" name="Google Shape;3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8027" y="473816"/>
            <a:ext cx="4937760" cy="2863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306" name="Google Shape;3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3352262"/>
            <a:ext cx="5163587" cy="2788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16"/>
          <p:cNvGrpSpPr/>
          <p:nvPr/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313" name="Google Shape;313;p16"/>
            <p:cNvCxnSpPr/>
            <p:nvPr/>
          </p:nvCxnSpPr>
          <p:spPr>
            <a:xfrm rot="10800000">
              <a:off x="329184" y="5728134"/>
              <a:ext cx="523824" cy="0"/>
            </a:xfrm>
            <a:prstGeom prst="straightConnector1">
              <a:avLst/>
            </a:prstGeom>
            <a:noFill/>
            <a:ln cap="flat" cmpd="sng" w="1524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4" name="Google Shape;314;p16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p16"/>
          <p:cNvSpPr/>
          <p:nvPr/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 txBox="1"/>
          <p:nvPr>
            <p:ph type="title"/>
          </p:nvPr>
        </p:nvSpPr>
        <p:spPr>
          <a:xfrm>
            <a:off x="1060232" y="3941205"/>
            <a:ext cx="10071536" cy="9297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lay"/>
              <a:buNone/>
            </a:pPr>
            <a:r>
              <a:rPr lang="es-ES" sz="4000"/>
              <a:t>Diseño de la interfaz y Experiencia de usuarios</a:t>
            </a:r>
            <a:endParaRPr/>
          </a:p>
        </p:txBody>
      </p:sp>
      <p:pic>
        <p:nvPicPr>
          <p:cNvPr descr="A screenshot of a computer&#10;&#10;AI-generated content may be incorrect." id="317" name="Google Shape;3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04" y="1001026"/>
            <a:ext cx="5642087" cy="2679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318" name="Google Shape;3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9011" y="1001027"/>
            <a:ext cx="5612545" cy="267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es-ES" sz="41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Pruebas de validación y aseguramiento de calidad</a:t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aplicó un set de pruebas según los siguientes tipos de pruebas: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9" name="Google Shape;329;p17"/>
          <p:cNvGraphicFramePr/>
          <p:nvPr/>
        </p:nvGraphicFramePr>
        <p:xfrm>
          <a:off x="5564060" y="2441652"/>
          <a:ext cx="3000000" cy="3000000"/>
        </p:xfrm>
        <a:graphic>
          <a:graphicData uri="http://schemas.openxmlformats.org/drawingml/2006/table">
            <a:tbl>
              <a:tblPr bandRow="1" firstRow="1">
                <a:solidFill>
                  <a:srgbClr val="F2F2F2"/>
                </a:solidFill>
                <a:tableStyleId>{EE3B5FD3-2AF0-4AC0-9FB2-591026309B47}</a:tableStyleId>
              </a:tblPr>
              <a:tblGrid>
                <a:gridCol w="1853275"/>
                <a:gridCol w="2492300"/>
                <a:gridCol w="1273475"/>
              </a:tblGrid>
              <a:tr h="48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s-ES" sz="1500" u="none" cap="none" strike="noStrike">
                          <a:solidFill>
                            <a:schemeClr val="dk1"/>
                          </a:solidFill>
                        </a:rPr>
                        <a:t>Tipo de Prueba</a:t>
                      </a:r>
                      <a:endParaRPr sz="1400" u="none" cap="none" strike="noStrike"/>
                    </a:p>
                  </a:txBody>
                  <a:tcPr marT="16900" marB="126825" marR="84550" marL="5920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s-ES" sz="1500" u="none" cap="none" strike="noStrike">
                          <a:solidFill>
                            <a:schemeClr val="dk1"/>
                          </a:solidFill>
                        </a:rPr>
                        <a:t>Descripción</a:t>
                      </a:r>
                      <a:endParaRPr sz="1400" u="none" cap="none" strike="noStrike"/>
                    </a:p>
                  </a:txBody>
                  <a:tcPr marT="16900" marB="126825" marR="84550" marL="5920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s-ES" sz="1500" u="none" cap="none" strike="noStrike">
                          <a:solidFill>
                            <a:schemeClr val="dk1"/>
                          </a:solidFill>
                        </a:rPr>
                        <a:t>Resultado</a:t>
                      </a:r>
                      <a:endParaRPr sz="1400" u="none" cap="none" strike="noStrike"/>
                    </a:p>
                  </a:txBody>
                  <a:tcPr marT="16900" marB="126825" marR="84550" marL="5920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8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Pruebas Unitarias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Validación de formularios, creación de usuarios, autenticación, etc.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95% de éxito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1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Pruebas Funcionales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Postulación, entrevistas y flujo de reclutamiento, etc.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94% de éxito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8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Pruebas de Integración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Comunicación entre módulos (main, ofertas_laborales, administrador), etc.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100% de éxito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01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Pruebas de Seguridad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Restricción de vistas según rol (Administrador, Reclutador o Candidato), formularios seguros, etc.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>
                          <a:solidFill>
                            <a:schemeClr val="dk1"/>
                          </a:solidFill>
                        </a:rPr>
                        <a:t>92% de éxito</a:t>
                      </a:r>
                      <a:endParaRPr sz="1400" u="none" cap="none" strike="noStrike"/>
                    </a:p>
                  </a:txBody>
                  <a:tcPr marT="16900" marB="126825" marR="84550" marL="59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lay"/>
              <a:buNone/>
            </a:pPr>
            <a:r>
              <a:rPr lang="es-ES" sz="2800"/>
              <a:t>Gestión e Implementación del proyecto</a:t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 txBox="1"/>
          <p:nvPr>
            <p:ph idx="1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/>
              <a:t>El proyecto </a:t>
            </a:r>
            <a:r>
              <a:rPr b="1" i="1" lang="es-ES" sz="1800"/>
              <a:t>HireUp</a:t>
            </a:r>
            <a:r>
              <a:rPr lang="es-ES" sz="1800"/>
              <a:t> utiliza una infraestructura 100% basada en la nube, garantizando disponibilidad, escalabilidad y bajo costo operativo.</a:t>
            </a:r>
            <a:br>
              <a:rPr lang="es-ES" sz="1800"/>
            </a:br>
            <a:r>
              <a:rPr lang="es-ES" sz="1800"/>
              <a:t>La aplicación web está alojada en Render, un servicio Cloud que automatiza el despliegue y la ejecución de aplicaciones Django, mientras que la base de datos y el almacenamiento de archivos se gestionan mediante Supabase.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338" name="Google Shape;338;p18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1" name="Google Shape;341;p18"/>
          <p:cNvGraphicFramePr/>
          <p:nvPr/>
        </p:nvGraphicFramePr>
        <p:xfrm>
          <a:off x="6112803" y="5174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{EE3B5FD3-2AF0-4AC0-9FB2-591026309B47}</a:tableStyleId>
              </a:tblPr>
              <a:tblGrid>
                <a:gridCol w="1784325"/>
                <a:gridCol w="1784325"/>
                <a:gridCol w="1784325"/>
              </a:tblGrid>
              <a:tr h="33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Componente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Tecnología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Función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7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Render Cloud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Plataforma PaaS (Python/Django)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Alojamiento y despliegue automático del sistema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6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Supabase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PostgreSQL Cloud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Base de datos principal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0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Gmail SMTP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Servidor de correo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Envío de notificaciones automáticas (entrevistas, resultados, etc.)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87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GitHub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Control de versiones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Gestión colaborativa y despliegue continuo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0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Supabase Storage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Bucket de archivos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Almacenamiento seguro de currículums en formato PDF/DOCX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42" name="Google Shape;342;p18"/>
          <p:cNvSpPr txBox="1"/>
          <p:nvPr/>
        </p:nvSpPr>
        <p:spPr>
          <a:xfrm>
            <a:off x="5968764" y="5290730"/>
            <a:ext cx="5641027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Render y Supabase son herramientas modernas, ligeras y de bajo costo, ideales para una Pyme en crecimiento que busca mantener independencia tecnológica sin incurrir en infraestructura compleja o costosa.</a:t>
            </a:r>
            <a:br>
              <a:rPr b="0" i="0" lang="es-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Ambos servicios cumplen con buenas prácticas de seguridad, respaldo de datos y escalabilidad.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9"/>
          <p:cNvSpPr/>
          <p:nvPr/>
        </p:nvSpPr>
        <p:spPr>
          <a:xfrm flipH="1" rot="3967198">
            <a:off x="8631348" y="490493"/>
            <a:ext cx="2987899" cy="2987899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 txBox="1"/>
          <p:nvPr>
            <p:ph type="title"/>
          </p:nvPr>
        </p:nvSpPr>
        <p:spPr>
          <a:xfrm>
            <a:off x="5894962" y="479493"/>
            <a:ext cx="54588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Stack tecnológico del sistema</a:t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 flipH="1">
            <a:off x="0" y="5486400"/>
            <a:ext cx="2672863" cy="1371600"/>
          </a:xfrm>
          <a:custGeom>
            <a:rect b="b" l="l" r="r" t="t"/>
            <a:pathLst>
              <a:path extrusionOk="0" h="1371600" w="2672863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9"/>
          <p:cNvSpPr txBox="1"/>
          <p:nvPr>
            <p:ph idx="1" type="body"/>
          </p:nvPr>
        </p:nvSpPr>
        <p:spPr>
          <a:xfrm>
            <a:off x="5894962" y="1984443"/>
            <a:ext cx="54588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800"/>
              <a:t>HireUp se desarrolló utilizando un </a:t>
            </a:r>
            <a:r>
              <a:rPr b="1" lang="es-ES" sz="1800"/>
              <a:t>Stack basado en Django (Python)</a:t>
            </a:r>
            <a:r>
              <a:rPr lang="es-ES" sz="1800"/>
              <a:t>, que ofrece rapidez de desarrollo, seguridad integrada y gran capacidad de personalización.</a:t>
            </a:r>
            <a:endParaRPr/>
          </a:p>
        </p:txBody>
      </p:sp>
      <p:graphicFrame>
        <p:nvGraphicFramePr>
          <p:cNvPr id="352" name="Google Shape;352;p19"/>
          <p:cNvGraphicFramePr/>
          <p:nvPr/>
        </p:nvGraphicFramePr>
        <p:xfrm>
          <a:off x="648318" y="6880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{066B749F-A298-4B65-92AB-DC2896F9CDDB}</a:tableStyleId>
              </a:tblPr>
              <a:tblGrid>
                <a:gridCol w="1203300"/>
                <a:gridCol w="1325700"/>
                <a:gridCol w="2248400"/>
              </a:tblGrid>
              <a:tr h="29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Componente</a:t>
                      </a:r>
                      <a:endParaRPr sz="1400" u="none" cap="none" strike="noStrike"/>
                    </a:p>
                  </a:txBody>
                  <a:tcPr marT="33900" marB="33900" marR="67800" marL="678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Tecnología</a:t>
                      </a:r>
                      <a:endParaRPr sz="1400" u="none" cap="none" strike="noStrike"/>
                    </a:p>
                  </a:txBody>
                  <a:tcPr marT="33900" marB="33900" marR="67800" marL="678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Motivo de selección</a:t>
                      </a:r>
                      <a:endParaRPr sz="1400" u="none" cap="none" strike="noStrike"/>
                    </a:p>
                  </a:txBody>
                  <a:tcPr marT="33900" marB="33900" marR="67800" marL="67800">
                    <a:solidFill>
                      <a:schemeClr val="accent4"/>
                    </a:solidFill>
                  </a:tcPr>
                </a:tc>
              </a:tr>
              <a:tr h="70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Backend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Django (Python) v4.2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Framework robusto y seguro, con ORM y autenticación integrada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</a:tr>
              <a:tr h="70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Frontend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HTML5, CSS3, Bootstrap 5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Diseño adaptable y moderno, centrado en la usabilidad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Base de datos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PostgreSQL 18 (Supabase)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Soporta relaciones complejas y escalabilidad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Control de versiones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Git + GitHub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Facilita el control y colaboración del proyecto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</a:tr>
              <a:tr h="50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Correo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Gmail SMTP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Notificaciones automáticas seguras y gratuitas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</a:tr>
              <a:tr h="70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Gestor de entornos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Python-dotenv v1.1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300" u="none" cap="none" strike="noStrike"/>
                        <a:t>Manejo de variables seguras (.env) en entorno cloud</a:t>
                      </a:r>
                      <a:endParaRPr sz="1300" u="none" cap="none" strike="noStrike"/>
                    </a:p>
                  </a:txBody>
                  <a:tcPr marT="33900" marB="33900" marR="67800" marL="67800"/>
                </a:tc>
              </a:tr>
              <a:tr h="70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Hosting en la Nube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cap="none" strike="noStrike"/>
                        <a:t>Render</a:t>
                      </a:r>
                      <a:endParaRPr sz="1400" u="none" cap="none" strike="noStrike"/>
                    </a:p>
                  </a:txBody>
                  <a:tcPr marT="33900" marB="33900" marR="67800" marL="67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s-E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Hosting en la nube simple y gratuito</a:t>
                      </a:r>
                      <a:endParaRPr sz="1300" u="none" cap="none" strike="noStrike"/>
                    </a:p>
                  </a:txBody>
                  <a:tcPr marT="33900" marB="33900" marR="67800" marL="67800"/>
                </a:tc>
              </a:tr>
            </a:tbl>
          </a:graphicData>
        </a:graphic>
      </p:graphicFrame>
      <p:sp>
        <p:nvSpPr>
          <p:cNvPr id="353" name="Google Shape;353;p19"/>
          <p:cNvSpPr txBox="1"/>
          <p:nvPr/>
        </p:nvSpPr>
        <p:spPr>
          <a:xfrm>
            <a:off x="5894962" y="3310007"/>
            <a:ext cx="5458838" cy="192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Ventajas del Stack: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Modularidad y mantenibilidad.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Seguridad integrada (contra inyecciones SQL, CSRF, XSS).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Flexibilidad para integrar nuevos módulos (por ejemplo, filtros avanzados o analítica).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Despliegue automatizado y reproducible.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" name="Google Shape;359;p20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360" name="Google Shape;360;p2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3" name="Google Shape;363;p20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 txBox="1"/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s-ES" sz="4800"/>
              <a:t>Factibilidad operacional</a:t>
            </a:r>
            <a:endParaRPr/>
          </a:p>
        </p:txBody>
      </p:sp>
      <p:sp>
        <p:nvSpPr>
          <p:cNvPr id="365" name="Google Shape;365;p20"/>
          <p:cNvSpPr txBox="1"/>
          <p:nvPr>
            <p:ph idx="1" type="body"/>
          </p:nvPr>
        </p:nvSpPr>
        <p:spPr>
          <a:xfrm>
            <a:off x="1043631" y="2903455"/>
            <a:ext cx="4011604" cy="3124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Desde el punto de vista operativo, el sistema </a:t>
            </a:r>
            <a:r>
              <a:rPr i="1" lang="es-ES" sz="2400"/>
              <a:t>HireUp</a:t>
            </a:r>
            <a:r>
              <a:rPr lang="es-ES" sz="2400"/>
              <a:t> es totalmente viable para una Pyme del rubro de instalación de ascensores.</a:t>
            </a:r>
            <a:endParaRPr/>
          </a:p>
        </p:txBody>
      </p:sp>
      <p:cxnSp>
        <p:nvCxnSpPr>
          <p:cNvPr id="366" name="Google Shape;366;p20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7" name="Google Shape;367;p20"/>
          <p:cNvSpPr txBox="1"/>
          <p:nvPr/>
        </p:nvSpPr>
        <p:spPr>
          <a:xfrm>
            <a:off x="6698584" y="2903455"/>
            <a:ext cx="4448387" cy="3438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E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que respaldan factibilidad: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Acceso web multiplataforma: se puede acceder desde cualquier dispositivo con conexión a Internet.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 de aprendizaje baja: el sistema fue diseñado con una interfaz clara y roles bien definidos (candidato, reclutador, administrador).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Mantenimiento simple: Render y Supabase automatizan actualizaciones, copias de seguridad y despliegues.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Soporte escalable: permite aumentar recursos (RAM, CPU, base de datos) sin modificar el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049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1"/>
          <p:cNvSpPr txBox="1"/>
          <p:nvPr>
            <p:ph type="title"/>
          </p:nvPr>
        </p:nvSpPr>
        <p:spPr>
          <a:xfrm>
            <a:off x="838200" y="129687"/>
            <a:ext cx="89121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Cumplimiento normativo y protección de datos</a:t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 flipH="1" rot="-5400000">
            <a:off x="555710" y="2183223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1"/>
          <p:cNvSpPr txBox="1"/>
          <p:nvPr>
            <p:ph idx="1" type="body"/>
          </p:nvPr>
        </p:nvSpPr>
        <p:spPr>
          <a:xfrm>
            <a:off x="828161" y="1455250"/>
            <a:ext cx="10515600" cy="108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HireUp cumple con las normativas vigentes en materia de protección de datos personales, propiedad intelectual y responsabilidad tecnológica, de acuerdo con la legislación chilena y estándares internacionales.</a:t>
            </a:r>
            <a:endParaRPr/>
          </a:p>
        </p:txBody>
      </p:sp>
      <p:sp>
        <p:nvSpPr>
          <p:cNvPr id="377" name="Google Shape;377;p21"/>
          <p:cNvSpPr txBox="1"/>
          <p:nvPr/>
        </p:nvSpPr>
        <p:spPr>
          <a:xfrm>
            <a:off x="855253" y="2490450"/>
            <a:ext cx="3484345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Ley de Protección de Datos Personales (Ley N° 19.628, Chile)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almacena información sensible de los usuarios (RUT, CV, correo, teléfono).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implementan medidas de seguridad como: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Cifrado de contraseñas (hash).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Almacenamiento seguro en Supabase (con permisos restringidos por rol).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Consentimiento implícito al registrarse.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4368059" y="2490450"/>
            <a:ext cx="3484345" cy="357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Propiedad Industrial e Intelectual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el código y diseño del sistema son de autoría original del equipo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proyecto puede ser protegido bajo la Ley de Propiedad Intelectual (Ley 17.336), como software de desarrollo propio.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marcas mencionadas (Schindler, Fabrimetal, etc.) se utilizan con fines referenciales, sin vulnerar derechos de terceros.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886508" y="2543673"/>
            <a:ext cx="3484345" cy="28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 Normativas internacionales aplicables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RGPD (UE) y estándares ISO/IEC 27001 de seguridad de la información sirven como referencia en el manejo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promueve la transparencia, confidencialidad y consentimiento informado de los usuarios.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2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lay"/>
              <a:buNone/>
            </a:pPr>
            <a:r>
              <a:rPr lang="es-ES" sz="2800"/>
              <a:t>Gestión e Implementación del proyecto</a:t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 txBox="1"/>
          <p:nvPr>
            <p:ph idx="1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800"/>
              <a:t>La implementación de </a:t>
            </a:r>
            <a:r>
              <a:rPr i="1" lang="es-ES" sz="1800"/>
              <a:t>HireUp</a:t>
            </a:r>
            <a:r>
              <a:rPr lang="es-ES" sz="1800"/>
              <a:t> se desarrolló siguiendo un enfoque ágil e incremental, estructurado en Sprints con tareas planificadas y monitoreadas mediante Trello y control de versiones en GitHub.</a:t>
            </a:r>
            <a:br>
              <a:rPr lang="es-ES" sz="1800"/>
            </a:br>
            <a:r>
              <a:rPr lang="es-ES" sz="1800"/>
              <a:t>Cada etapa tuvo entregables verificables y se gestionó según una matriz de responsabilidades (RACI).</a:t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2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diagram&#10;&#10;AI-generated content may be incorrect." id="391" name="Google Shape;3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764" y="1614651"/>
            <a:ext cx="6037030" cy="3395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3"/>
          <p:cNvSpPr txBox="1"/>
          <p:nvPr>
            <p:ph type="title"/>
          </p:nvPr>
        </p:nvSpPr>
        <p:spPr>
          <a:xfrm>
            <a:off x="645066" y="145631"/>
            <a:ext cx="2491328" cy="6382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Roadmap</a:t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 flipH="1">
            <a:off x="616533" y="770122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221551" y="1024128"/>
            <a:ext cx="11660215" cy="508984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580060" y="6113969"/>
            <a:ext cx="36941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Versión simplificada del Roadmap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roadmap&#10;&#10;AI-generated content may be incorrect." id="403" name="Google Shape;4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01" y="1422046"/>
            <a:ext cx="8198027" cy="461139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3"/>
          <p:cNvSpPr txBox="1"/>
          <p:nvPr>
            <p:ph idx="1" type="body"/>
          </p:nvPr>
        </p:nvSpPr>
        <p:spPr>
          <a:xfrm>
            <a:off x="8833186" y="354958"/>
            <a:ext cx="2742281" cy="5405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800"/>
              <a:t>El proyecto tuvo una duración total de 18 semanas, distribuidas en 9 Sprints quincenales.</a:t>
            </a:r>
            <a:br>
              <a:rPr lang="es-ES" sz="1800"/>
            </a:br>
            <a:r>
              <a:rPr lang="es-ES" sz="1800"/>
              <a:t>Cada sprint abordó funcionalidades prioritarias, comenzando con la autenticación de usuarios y finalizando con los módulos de entrevistas y reportes administrativos.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4"/>
          <p:cNvSpPr txBox="1"/>
          <p:nvPr>
            <p:ph type="title"/>
          </p:nvPr>
        </p:nvSpPr>
        <p:spPr>
          <a:xfrm>
            <a:off x="838200" y="129687"/>
            <a:ext cx="89121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ES"/>
              <a:t>Gestión y control del Proyecto</a:t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 flipH="1" rot="-5400000">
            <a:off x="555710" y="2183223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4"/>
          <p:cNvSpPr txBox="1"/>
          <p:nvPr>
            <p:ph idx="1" type="body"/>
          </p:nvPr>
        </p:nvSpPr>
        <p:spPr>
          <a:xfrm>
            <a:off x="555710" y="1616153"/>
            <a:ext cx="2380488" cy="181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ES" sz="2000"/>
              <a:t>Trello: </a:t>
            </a:r>
            <a:r>
              <a:rPr lang="es-ES" sz="1800"/>
              <a:t>Se  utilizó Trello para la planificación y seguimiento de tareas</a:t>
            </a:r>
            <a:endParaRPr sz="2000"/>
          </a:p>
        </p:txBody>
      </p:sp>
      <p:pic>
        <p:nvPicPr>
          <p:cNvPr descr="A screenshot of a chat&#10;&#10;AI-generated content may be incorrect." id="414" name="Google Shape;4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5711" y="1344168"/>
            <a:ext cx="2562583" cy="5384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AI-generated content may be incorrect." id="415" name="Google Shape;41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8861" y="2591213"/>
            <a:ext cx="6047239" cy="40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4"/>
          <p:cNvSpPr txBox="1"/>
          <p:nvPr/>
        </p:nvSpPr>
        <p:spPr>
          <a:xfrm>
            <a:off x="5808592" y="1548599"/>
            <a:ext cx="553516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utilizó GitHub para el control de versiones y colaboración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5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ES" sz="3600"/>
              <a:t>Roles y responsabilidades</a:t>
            </a:r>
            <a:endParaRPr/>
          </a:p>
        </p:txBody>
      </p:sp>
      <p:sp>
        <p:nvSpPr>
          <p:cNvPr id="423" name="Google Shape;423;p25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5"/>
          <p:cNvSpPr txBox="1"/>
          <p:nvPr>
            <p:ph idx="1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/>
              <a:t>La matriz RACI permitió definir claramente quién es en cada fase del proyecto. Responsable (R), Aprobador (A), Consultado (C) e Informado (I).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ES" sz="1800"/>
              <a:t>Roles asignados al equipo: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800"/>
              <a:t>Matías Baeza – Jefe de Proyecto y coordinador de desarrollo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800"/>
              <a:t>Renato Concha – Desarrollador y DBA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800"/>
              <a:t>Felipe Cortes – Desarrollador y QA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425" name="Google Shape;425;p25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5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8" name="Google Shape;428;p25"/>
          <p:cNvGraphicFramePr/>
          <p:nvPr/>
        </p:nvGraphicFramePr>
        <p:xfrm>
          <a:off x="5696792" y="19449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{EE3B5FD3-2AF0-4AC0-9FB2-591026309B47}</a:tableStyleId>
              </a:tblPr>
              <a:tblGrid>
                <a:gridCol w="1309950"/>
                <a:gridCol w="958500"/>
                <a:gridCol w="997300"/>
                <a:gridCol w="1433000"/>
                <a:gridCol w="1486200"/>
              </a:tblGrid>
              <a:tr h="94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ES" sz="1000" u="none" cap="none" strike="noStrike">
                          <a:solidFill>
                            <a:srgbClr val="FFFFFF"/>
                          </a:solidFill>
                        </a:rPr>
                        <a:t>Fase</a:t>
                      </a:r>
                      <a:endParaRPr sz="1400" u="none" cap="none" strike="noStrike"/>
                    </a:p>
                  </a:txBody>
                  <a:tcPr marT="87150" marB="87150" marR="87150" marL="14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B68">
                        <a:alpha val="6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ES" sz="1000" u="none" cap="none" strike="noStrike">
                          <a:solidFill>
                            <a:srgbClr val="FFFFFF"/>
                          </a:solidFill>
                        </a:rPr>
                        <a:t>Christian Lazcano (PO)</a:t>
                      </a:r>
                      <a:endParaRPr sz="1400" u="none" cap="none" strike="noStrike"/>
                    </a:p>
                  </a:txBody>
                  <a:tcPr marT="87150" marB="87150" marR="87150" marL="14527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B68">
                        <a:alpha val="6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ES" sz="1000" u="none" cap="none" strike="noStrike">
                          <a:solidFill>
                            <a:srgbClr val="FFFFFF"/>
                          </a:solidFill>
                        </a:rPr>
                        <a:t>Matías Baeza (Jefe de Proyecto)</a:t>
                      </a:r>
                      <a:endParaRPr sz="1400" u="none" cap="none" strike="noStrike"/>
                    </a:p>
                  </a:txBody>
                  <a:tcPr marT="87150" marB="87150" marR="87150" marL="14527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B68">
                        <a:alpha val="6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ES" sz="1000" u="none" cap="none" strike="noStrike">
                          <a:solidFill>
                            <a:srgbClr val="FFFFFF"/>
                          </a:solidFill>
                        </a:rPr>
                        <a:t>Felipe Cortes (Desarrollo/QA) </a:t>
                      </a:r>
                      <a:endParaRPr sz="1400" u="none" cap="none" strike="noStrike"/>
                    </a:p>
                  </a:txBody>
                  <a:tcPr marT="87150" marB="87150" marR="87150" marL="14527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B68">
                        <a:alpha val="6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ES" sz="1000" u="none" cap="none" strike="noStrike">
                          <a:solidFill>
                            <a:srgbClr val="FFFFFF"/>
                          </a:solidFill>
                        </a:rPr>
                        <a:t>Renato Concha (Desarrollo/DBA)</a:t>
                      </a:r>
                      <a:endParaRPr sz="1400" u="none" cap="none" strike="noStrike"/>
                    </a:p>
                  </a:txBody>
                  <a:tcPr marT="87150" marB="87150" marR="87150" marL="145275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B68">
                        <a:alpha val="69019"/>
                      </a:srgbClr>
                    </a:solidFill>
                  </a:tcPr>
                </a:tc>
              </a:tr>
              <a:tr h="40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Análisis/Diseño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A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R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C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C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</a:tr>
              <a:tr h="40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Desarrollo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A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C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C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R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</a:tr>
              <a:tr h="40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Pruebas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A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C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R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C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14117"/>
                      </a:srgbClr>
                    </a:solidFill>
                  </a:tcPr>
                </a:tc>
              </a:tr>
              <a:tr h="40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Despliegue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A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R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C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ES" sz="1000" u="none" cap="none" strike="noStrike">
                          <a:solidFill>
                            <a:srgbClr val="262626"/>
                          </a:solidFill>
                        </a:rPr>
                        <a:t>C</a:t>
                      </a:r>
                      <a:endParaRPr sz="1400" u="none" cap="none" strike="noStrike"/>
                    </a:p>
                  </a:txBody>
                  <a:tcPr marT="87150" marB="87150" marR="87150" marL="1452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8E8B">
                        <a:alpha val="2901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p25"/>
          <p:cNvSpPr txBox="1"/>
          <p:nvPr/>
        </p:nvSpPr>
        <p:spPr>
          <a:xfrm>
            <a:off x="5833872" y="5822645"/>
            <a:ext cx="40782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Versión simplificada de la matriz RACI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26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436" name="Google Shape;436;p26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26"/>
          <p:cNvSpPr/>
          <p:nvPr/>
        </p:nvSpPr>
        <p:spPr>
          <a:xfrm>
            <a:off x="640075" y="870350"/>
            <a:ext cx="10907400" cy="1298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6"/>
          <p:cNvSpPr txBox="1"/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s-ES" sz="4800"/>
              <a:t>Retrospectiva del Proyecto</a:t>
            </a:r>
            <a:endParaRPr/>
          </a:p>
        </p:txBody>
      </p:sp>
      <p:sp>
        <p:nvSpPr>
          <p:cNvPr id="441" name="Google Shape;441;p26"/>
          <p:cNvSpPr txBox="1"/>
          <p:nvPr>
            <p:ph idx="1" type="body"/>
          </p:nvPr>
        </p:nvSpPr>
        <p:spPr>
          <a:xfrm>
            <a:off x="378738" y="2344938"/>
            <a:ext cx="11272500" cy="39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ES" sz="2100"/>
              <a:t>Reflexión general: Durante el desarrollo de este proyecto pudimos experimentar el desarrollo de un sistema desde todas sus fases (diseño, desarrollo, pruebas y despliegue), esto nos permitió utilizar todo el conocimiento adquirido durante nuestra carrera para llevar a cabo el desarrollo de HireUp. Durante el desarrollo tuvimos diversas complicaciones, tales como la migración a PostgreSQL y Supabase, la normalización de datos y algunos problemas con el storage de Supabase.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ES" sz="2100"/>
              <a:t>Gracias al Capstone tuvimos un crecimiento profesional considerable, aplicando técnicas utilizadas en entornos reales y profesionales, como la arquitectura, los diagramas UML,  la metodología SCRUM, el versionamiento, etc.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ES" sz="2100"/>
              <a:t>En lo que respecta a HireUp las principales funcionalidades que faltan por terminar son las siguientes: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s-ES" sz="2100"/>
              <a:t>Control completo del Administrador sobre el contenido (CRUD Ofertas y Postulaciones).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s-ES" sz="2100"/>
              <a:t>Generador de reportes en PDF y Excel.</a:t>
            </a:r>
            <a:endParaRPr sz="2400"/>
          </a:p>
        </p:txBody>
      </p:sp>
      <p:cxnSp>
        <p:nvCxnSpPr>
          <p:cNvPr id="442" name="Google Shape;442;p26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2025-11-08T20:26:37Z</dcterms:created>
  <dc:creator>MATIAS . BAEZA WONG</dc:creator>
</cp:coreProperties>
</file>